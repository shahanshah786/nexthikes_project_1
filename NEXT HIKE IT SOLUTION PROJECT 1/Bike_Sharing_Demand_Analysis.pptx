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1" r:id="rId22"/>
    <p:sldId id="272" r:id="rId23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6" d="100"/>
          <a:sy n="86" d="100"/>
        </p:scale>
        <p:origin x="40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4.xml"/><Relationship Id="rId23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Riders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65A8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47ED-4DEA-BB1E-37434A11CAC1}"/>
              </c:ext>
            </c:extLst>
          </c:dPt>
          <c:dPt>
            <c:idx val="1"/>
            <c:bubble3D val="0"/>
            <c:spPr>
              <a:solidFill>
                <a:srgbClr val="F4A2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7ED-4DEA-BB1E-37434A11CAC1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dLblPos val="inEnd"/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47ED-4DEA-BB1E-37434A11CAC1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dLblPos val="inEnd"/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47ED-4DEA-BB1E-37434A11CAC1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Registered</c:v>
                </c:pt>
                <c:pt idx="1">
                  <c:v>Casual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53383</c:v>
                </c:pt>
                <c:pt idx="1">
                  <c:v>4921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7ED-4DEA-BB1E-37434A11CAC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2B34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Rides</c:v>
                </c:pt>
              </c:strCache>
            </c:strRef>
          </c:tx>
          <c:spPr>
            <a:solidFill>
              <a:srgbClr val="00B05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B2B34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Clear</c:v>
                </c:pt>
                <c:pt idx="1">
                  <c:v>Mist / Cloudy</c:v>
                </c:pt>
                <c:pt idx="2">
                  <c:v>Light Rain / Snow</c:v>
                </c:pt>
                <c:pt idx="3">
                  <c:v>Heavy Rain / Snow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37373</c:v>
                </c:pt>
                <c:pt idx="1">
                  <c:v>18106</c:v>
                </c:pt>
                <c:pt idx="2">
                  <c:v>2789</c:v>
                </c:pt>
                <c:pt idx="3">
                  <c:v>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6C1-41DB-BBFF-955C661FD7F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B3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CE6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Rides / Hour</c:v>
                </c:pt>
              </c:strCache>
            </c:strRef>
          </c:tx>
          <c:spPr>
            <a:solidFill>
              <a:srgbClr val="00B05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2B34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Weekday</c:v>
                </c:pt>
                <c:pt idx="1">
                  <c:v>Sunday</c:v>
                </c:pt>
                <c:pt idx="2">
                  <c:v>Saturday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63.3</c:v>
                </c:pt>
                <c:pt idx="1">
                  <c:v>49.5</c:v>
                </c:pt>
                <c:pt idx="2">
                  <c:v>46.7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70E-4A8B-97AA-71A5485E0B6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B3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CE6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Rides</c:v>
                </c:pt>
              </c:strCache>
            </c:strRef>
          </c:tx>
          <c:spPr>
            <a:solidFill>
              <a:srgbClr val="00B05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2B34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Morning</c:v>
                </c:pt>
                <c:pt idx="1">
                  <c:v>Afternoon</c:v>
                </c:pt>
                <c:pt idx="2">
                  <c:v>Evening</c:v>
                </c:pt>
                <c:pt idx="3">
                  <c:v>Night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16968</c:v>
                </c:pt>
                <c:pt idx="1">
                  <c:v>23308</c:v>
                </c:pt>
                <c:pt idx="2">
                  <c:v>16187</c:v>
                </c:pt>
                <c:pt idx="3">
                  <c:v>1841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BBF-4D43-9B39-B5888251C50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B3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CE6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Rides / Hour</c:v>
                </c:pt>
              </c:strCache>
            </c:strRef>
          </c:tx>
          <c:spPr>
            <a:solidFill>
              <a:srgbClr val="F4A2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2B34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Cold</c:v>
                </c:pt>
                <c:pt idx="1">
                  <c:v>Mild</c:v>
                </c:pt>
                <c:pt idx="2">
                  <c:v>Hot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51.1</c:v>
                </c:pt>
                <c:pt idx="1">
                  <c:v>65.599999999999994</c:v>
                </c:pt>
                <c:pt idx="2">
                  <c:v>85.7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93E-4BE2-85E1-491BB4EA2F4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B3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CE6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Trend Growth %</c:v>
                </c:pt>
              </c:strCache>
            </c:strRef>
          </c:tx>
          <c:spPr>
            <a:solidFill>
              <a:srgbClr val="92D050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E2F-4FAE-8BCA-0FAA82859CF3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CE2F-4FAE-8BCA-0FAA82859CF3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CE2F-4FAE-8BCA-0FAA82859CF3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2B34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Casual</c:v>
                </c:pt>
                <c:pt idx="1">
                  <c:v>Registered</c:v>
                </c:pt>
                <c:pt idx="2">
                  <c:v>Total Count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41.2</c:v>
                </c:pt>
                <c:pt idx="1">
                  <c:v>22.6</c:v>
                </c:pt>
                <c:pt idx="2">
                  <c:v>24.1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E2F-4FAE-8BCA-0FAA82859CF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B3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CE6EA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70410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463040"/>
            <a:ext cx="4572000" cy="45720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-1280160" y="4754880"/>
            <a:ext cx="3657600" cy="3657600"/>
          </a:xfrm>
          <a:prstGeom prst="ellipse">
            <a:avLst/>
          </a:prstGeom>
          <a:solidFill>
            <a:srgbClr val="1C7293">
              <a:alpha val="4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822960" y="914400"/>
            <a:ext cx="777240" cy="777240"/>
          </a:xfrm>
          <a:prstGeom prst="ellipse">
            <a:avLst/>
          </a:prstGeom>
          <a:solidFill>
            <a:srgbClr val="F4A2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8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🚲</a:t>
            </a:r>
            <a:endParaRPr lang="en-US" sz="238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Bike Sharing Demand Analysis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22960" y="34290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rider behaviour through weather, time and demand patterns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4160520"/>
            <a:ext cx="2011680" cy="0"/>
          </a:xfrm>
          <a:prstGeom prst="line">
            <a:avLst/>
          </a:prstGeom>
          <a:noFill/>
          <a:ln w="381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822960" y="4389120"/>
            <a:ext cx="17426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NextHikes IT Solutions  </a:t>
            </a:r>
            <a:endParaRPr lang="en-US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F72858-3B5B-D600-19E1-6F2E6C413AC7}"/>
              </a:ext>
            </a:extLst>
          </p:cNvPr>
          <p:cNvSpPr txBox="1"/>
          <p:nvPr/>
        </p:nvSpPr>
        <p:spPr>
          <a:xfrm>
            <a:off x="9418320" y="4293215"/>
            <a:ext cx="21998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Submitted BY</a:t>
            </a:r>
          </a:p>
          <a:p>
            <a:r>
              <a:rPr lang="en-US" dirty="0">
                <a:solidFill>
                  <a:schemeClr val="bg1"/>
                </a:solidFill>
              </a:rPr>
              <a:t>MD SHAHNSHAH</a:t>
            </a:r>
          </a:p>
          <a:p>
            <a:endParaRPr lang="en-IN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Overview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269480" y="1280160"/>
            <a:ext cx="4297680" cy="4480560"/>
          </a:xfrm>
          <a:prstGeom prst="rect">
            <a:avLst/>
          </a:prstGeom>
          <a:solidFill>
            <a:srgbClr val="F4F8F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7772400" y="192024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7772400" y="1920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1960" dirty="0"/>
          </a:p>
        </p:txBody>
      </p:sp>
      <p:sp>
        <p:nvSpPr>
          <p:cNvPr id="6" name="Text 4"/>
          <p:cNvSpPr/>
          <p:nvPr/>
        </p:nvSpPr>
        <p:spPr>
          <a:xfrm>
            <a:off x="8595360" y="19659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0" y="265176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hourly bike-share usage to understand what drives rider demand, and turn that into decisions the business can act 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0" y="4206240"/>
            <a:ext cx="640080" cy="640080"/>
          </a:xfrm>
          <a:prstGeom prst="ellipse">
            <a:avLst/>
          </a:prstGeom>
          <a:solidFill>
            <a:srgbClr val="F4A2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7772400" y="4206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6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1960" dirty="0"/>
          </a:p>
        </p:txBody>
      </p:sp>
      <p:sp>
        <p:nvSpPr>
          <p:cNvPr id="10" name="Text 8"/>
          <p:cNvSpPr/>
          <p:nvPr/>
        </p:nvSpPr>
        <p:spPr>
          <a:xfrm>
            <a:off x="8595360" y="42519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772400" y="4892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Rider volume, weather &amp; temperature effects, day-type and hourly patterns, and growth trend over the observed period.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1737360"/>
            <a:ext cx="320040" cy="32004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640080" y="17373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43000" y="16459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rides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43000" y="20116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between casual (pay-per-ride) and registered (subscriber) users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2788920"/>
            <a:ext cx="320040" cy="32004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640080" y="27889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43000" y="26974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they ride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43000" y="306324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Weekday vs weekend, and time-of-day demand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3840480"/>
            <a:ext cx="320040" cy="32004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640080" y="3840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43000" y="37490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affects demand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43000" y="41148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condition and temperature band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4892040"/>
            <a:ext cx="320040" cy="32004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640080" y="48920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43000" y="48006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it's heading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143000" y="516636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direction across the 45-day window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the Dataset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514600" cy="1554480"/>
          </a:xfrm>
          <a:prstGeom prst="rect">
            <a:avLst/>
          </a:prstGeom>
          <a:solidFill>
            <a:srgbClr val="F4F8F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548640" y="187452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1,000</a:t>
            </a:r>
            <a:endParaRPr lang="en-US" sz="3400" dirty="0">
              <a:solidFill>
                <a:srgbClr val="FF0000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265176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records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46120" y="1737360"/>
            <a:ext cx="2514600" cy="1554480"/>
          </a:xfrm>
          <a:prstGeom prst="rect">
            <a:avLst/>
          </a:prstGeom>
          <a:solidFill>
            <a:srgbClr val="F4F8F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3246120" y="187452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3400" dirty="0">
              <a:solidFill>
                <a:srgbClr val="FF0000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3246120" y="265176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 days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43600" y="1737360"/>
            <a:ext cx="2514600" cy="1554480"/>
          </a:xfrm>
          <a:prstGeom prst="rect">
            <a:avLst/>
          </a:prstGeom>
          <a:solidFill>
            <a:srgbClr val="F4F8F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5943600" y="187452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3400" dirty="0">
              <a:solidFill>
                <a:srgbClr val="FF0000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5943600" y="265176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columns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41080" y="1737360"/>
            <a:ext cx="2514600" cy="1554480"/>
          </a:xfrm>
          <a:prstGeom prst="rect">
            <a:avLst/>
          </a:prstGeom>
          <a:solidFill>
            <a:srgbClr val="F4F8F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8641080" y="187452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>
              <a:solidFill>
                <a:srgbClr val="FF0000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8641080" y="265176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files merged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3611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window: 1 January 2011 – 14 February 2011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4114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fields captured per hour: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45262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&amp; Hour  ·  Season, Weather, Temperature, Humidity, Wind Speed  ·  Casual, Registered &amp; Total ride Counts  ·  Holiday &amp; Weekday flags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5394960"/>
            <a:ext cx="11064240" cy="822960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822960" y="53949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this dataset is an early 45-day sample — not the full annual dataset, so trends should be read as an early signal, not a full-year conclusion.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Preparation &amp; Feature Engineering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68880" cy="2926080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Merge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32461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raw source datasets combined into one unified table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953512" y="3246120"/>
            <a:ext cx="274320" cy="182880"/>
          </a:xfrm>
          <a:prstGeom prst="rightArrow">
            <a:avLst/>
          </a:prstGeom>
          <a:solidFill>
            <a:srgbClr val="0B2A3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3246120" y="1920240"/>
            <a:ext cx="2468880" cy="29260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429000" y="21031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42900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429000" y="32461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Dates, headers and data types standardised across the sheet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50992" y="3246120"/>
            <a:ext cx="274320" cy="182880"/>
          </a:xfrm>
          <a:prstGeom prst="rightArrow">
            <a:avLst/>
          </a:prstGeom>
          <a:solidFill>
            <a:srgbClr val="0B2A3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5943600" y="1920240"/>
            <a:ext cx="2468880" cy="2926080"/>
          </a:xfrm>
          <a:prstGeom prst="rect">
            <a:avLst/>
          </a:prstGeom>
          <a:solidFill>
            <a:srgbClr val="00B05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126480" y="21031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12648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126480" y="32461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readable fields built: Season_Name, Weather_Name, </a:t>
            </a:r>
            <a:r>
              <a:rPr lang="en-US" sz="125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DayType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348472" y="3246120"/>
            <a:ext cx="274320" cy="182880"/>
          </a:xfrm>
          <a:prstGeom prst="rightArrow">
            <a:avLst/>
          </a:prstGeom>
          <a:solidFill>
            <a:srgbClr val="0B2A3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8641080" y="1920240"/>
            <a:ext cx="2468880" cy="2926080"/>
          </a:xfrm>
          <a:prstGeom prst="rect">
            <a:avLst/>
          </a:prstGeom>
          <a:solidFill>
            <a:srgbClr val="0070C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8823960" y="21031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882396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Enrich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823960" y="32461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Time_Slot, Temp_Types (Cold/Mild/Hot) and Holiday_Status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a single, analysis-ready table (“FinaL_Data_Set”) driving every pivot table, KPI and slicer in the workbook.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Performance Indicators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2697480" cy="2377440"/>
          </a:xfrm>
          <a:prstGeom prst="rect">
            <a:avLst/>
          </a:prstGeom>
          <a:solidFill>
            <a:srgbClr val="F4F8F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97480" cy="109728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548640" y="2286000"/>
            <a:ext cx="2697480" cy="914400"/>
          </a:xfrm>
          <a:prstGeom prst="rect">
            <a:avLst/>
          </a:prstGeom>
          <a:solidFill>
            <a:srgbClr val="FF00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58.3K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Rides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29000" y="1828800"/>
            <a:ext cx="2697480" cy="2377440"/>
          </a:xfrm>
          <a:prstGeom prst="rect">
            <a:avLst/>
          </a:prstGeom>
          <a:solidFill>
            <a:srgbClr val="F4F8F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3429000" y="1828800"/>
            <a:ext cx="2697480" cy="10972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429000" y="2286000"/>
            <a:ext cx="2697480" cy="914400"/>
          </a:xfrm>
          <a:prstGeom prst="rect">
            <a:avLst/>
          </a:prstGeom>
          <a:solidFill>
            <a:srgbClr val="FFFF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4.9K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429000" y="320040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Casual Riders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309360" y="1828800"/>
            <a:ext cx="2697480" cy="2377440"/>
          </a:xfrm>
          <a:prstGeom prst="rect">
            <a:avLst/>
          </a:prstGeom>
          <a:solidFill>
            <a:srgbClr val="F4F8F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6309360" y="1828800"/>
            <a:ext cx="2697480" cy="109728"/>
          </a:xfrm>
          <a:prstGeom prst="rect">
            <a:avLst/>
          </a:prstGeom>
          <a:solidFill>
            <a:srgbClr val="0B2A3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6309360" y="2286000"/>
            <a:ext cx="2697480" cy="914400"/>
          </a:xfrm>
          <a:prstGeom prst="rect">
            <a:avLst/>
          </a:prstGeom>
          <a:solidFill>
            <a:srgbClr val="00B05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53.3K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309360" y="320040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Riders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189720" y="1828800"/>
            <a:ext cx="2697480" cy="2377440"/>
          </a:xfrm>
          <a:prstGeom prst="rect">
            <a:avLst/>
          </a:prstGeom>
          <a:solidFill>
            <a:srgbClr val="F4F8F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9189720" y="1828800"/>
            <a:ext cx="2697480" cy="109728"/>
          </a:xfrm>
          <a:prstGeom prst="rect">
            <a:avLst/>
          </a:prstGeom>
          <a:solidFill>
            <a:srgbClr val="F4A2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9189720" y="2286000"/>
            <a:ext cx="2697480" cy="914400"/>
          </a:xfrm>
          <a:prstGeom prst="rect">
            <a:avLst/>
          </a:prstGeom>
          <a:solidFill>
            <a:srgbClr val="0070C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58.3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9189720" y="320040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Rides / Hour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457200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(subscriber) riders account for the large majority of total volume — see split on the next slide.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Casual vs Registered Riders</a:t>
            </a:r>
            <a:endParaRPr lang="en-US" sz="32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548640" y="1645920"/>
          <a:ext cx="530352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6217920" y="1699406"/>
            <a:ext cx="5486400" cy="4335633"/>
          </a:xfrm>
          <a:prstGeom prst="rect">
            <a:avLst/>
          </a:prstGeom>
          <a:solidFill>
            <a:srgbClr val="F4F8FA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5" name="Text 2"/>
          <p:cNvSpPr/>
          <p:nvPr/>
        </p:nvSpPr>
        <p:spPr>
          <a:xfrm>
            <a:off x="6492240" y="2057400"/>
            <a:ext cx="2743200" cy="731520"/>
          </a:xfrm>
          <a:prstGeom prst="rect">
            <a:avLst/>
          </a:prstGeom>
          <a:solidFill>
            <a:srgbClr val="FFFF0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91.6%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6492240" y="269748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rides come from Registered (subscriber) users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92240" y="3520440"/>
            <a:ext cx="2743200" cy="731520"/>
          </a:xfrm>
          <a:prstGeom prst="rect">
            <a:avLst/>
          </a:prstGeom>
          <a:solidFill>
            <a:srgbClr val="00B05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8.4%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6492240" y="41605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comes from Casual, pay-per-ride users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92240" y="50749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demand is driven mainly by regular commuters, not one-off riders — retention matters more than acquisition.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Weather Impact on Ridership</a:t>
            </a:r>
            <a:endParaRPr lang="en-US" sz="3200" dirty="0"/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1676361685"/>
              </p:ext>
            </p:extLst>
          </p:nvPr>
        </p:nvGraphicFramePr>
        <p:xfrm>
          <a:off x="548640" y="1691640"/>
          <a:ext cx="75895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8412480" y="1828800"/>
            <a:ext cx="3291840" cy="402336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2"/>
          <p:cNvSpPr/>
          <p:nvPr/>
        </p:nvSpPr>
        <p:spPr>
          <a:xfrm>
            <a:off x="8686800" y="21031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</a:t>
            </a:r>
            <a:r>
              <a:rPr lang="en-US" sz="30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</a:t>
            </a:r>
            <a:endParaRPr lang="en-US" sz="3000" dirty="0">
              <a:solidFill>
                <a:srgbClr val="FF0000"/>
              </a:solidFill>
            </a:endParaRPr>
          </a:p>
        </p:txBody>
      </p:sp>
      <p:sp>
        <p:nvSpPr>
          <p:cNvPr id="6" name="Text 3"/>
          <p:cNvSpPr/>
          <p:nvPr/>
        </p:nvSpPr>
        <p:spPr>
          <a:xfrm>
            <a:off x="8686800" y="27432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rides happen in Clear weather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686800" y="402336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rain / snow all but stops ridership — only 36 rides recorded.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Weekday vs Weekend Demand</a:t>
            </a:r>
            <a:endParaRPr lang="en-US" sz="3200" dirty="0"/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3798702642"/>
              </p:ext>
            </p:extLst>
          </p:nvPr>
        </p:nvGraphicFramePr>
        <p:xfrm>
          <a:off x="548640" y="1737360"/>
          <a:ext cx="694944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7772400" y="1920240"/>
            <a:ext cx="3931920" cy="3840480"/>
          </a:xfrm>
          <a:prstGeom prst="rect">
            <a:avLst/>
          </a:prstGeom>
          <a:solidFill>
            <a:srgbClr val="F4F8F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Shape 2"/>
          <p:cNvSpPr/>
          <p:nvPr/>
        </p:nvSpPr>
        <p:spPr>
          <a:xfrm>
            <a:off x="8046720" y="219456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3"/>
          <p:cNvSpPr/>
          <p:nvPr/>
        </p:nvSpPr>
        <p:spPr>
          <a:xfrm>
            <a:off x="804672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💼</a:t>
            </a:r>
            <a:endParaRPr lang="en-US" sz="1680" dirty="0"/>
          </a:p>
        </p:txBody>
      </p:sp>
      <p:sp>
        <p:nvSpPr>
          <p:cNvPr id="7" name="Text 4"/>
          <p:cNvSpPr/>
          <p:nvPr/>
        </p:nvSpPr>
        <p:spPr>
          <a:xfrm>
            <a:off x="8732520" y="22402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Weekdays lead demand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046720" y="288036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hourly rides are highest on weekdays (63.3), pointing to a strong commuter pattern.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046720" y="4114800"/>
            <a:ext cx="548640" cy="548640"/>
          </a:xfrm>
          <a:prstGeom prst="ellipse">
            <a:avLst/>
          </a:prstGeom>
          <a:solidFill>
            <a:srgbClr val="F4A2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7"/>
          <p:cNvSpPr/>
          <p:nvPr/>
        </p:nvSpPr>
        <p:spPr>
          <a:xfrm>
            <a:off x="8046720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8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🏖</a:t>
            </a:r>
            <a:endParaRPr lang="en-US" sz="1680" dirty="0"/>
          </a:p>
        </p:txBody>
      </p:sp>
      <p:sp>
        <p:nvSpPr>
          <p:cNvPr id="11" name="Text 8"/>
          <p:cNvSpPr/>
          <p:nvPr/>
        </p:nvSpPr>
        <p:spPr>
          <a:xfrm>
            <a:off x="8732520" y="41605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Weekends are quieter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046720" y="48006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Saturday and Sunday run 25–26% lower per hour — likely more leisure, fewer commutes.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Time-of-Day Demand Pattern</a:t>
            </a:r>
            <a:endParaRPr lang="en-US" sz="3200" dirty="0"/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3746125158"/>
              </p:ext>
            </p:extLst>
          </p:nvPr>
        </p:nvGraphicFramePr>
        <p:xfrm>
          <a:off x="548640" y="1737360"/>
          <a:ext cx="694944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7772400" y="1920240"/>
            <a:ext cx="3931920" cy="3840480"/>
          </a:xfrm>
          <a:prstGeom prst="rect">
            <a:avLst/>
          </a:prstGeom>
          <a:solidFill>
            <a:srgbClr val="00206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2"/>
          <p:cNvSpPr/>
          <p:nvPr/>
        </p:nvSpPr>
        <p:spPr>
          <a:xfrm>
            <a:off x="8046720" y="21488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Peak hours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046720" y="26060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5–6 PM  ·  8 AM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8046720" y="333756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hours line up with typical commute times, reinforcing that most riders use the service to get to and from work.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046720" y="475488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 hours (10 PM–5 AM) see minimal activity, under 2,000 rides across the whole period.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Temperature Impact on Ridership</a:t>
            </a:r>
            <a:endParaRPr lang="en-US" sz="32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548640" y="1737360"/>
          <a:ext cx="694944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7772400" y="1920240"/>
            <a:ext cx="3931920" cy="3840480"/>
          </a:xfrm>
          <a:prstGeom prst="rect">
            <a:avLst/>
          </a:prstGeom>
          <a:solidFill>
            <a:srgbClr val="F4F8F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2"/>
          <p:cNvSpPr/>
          <p:nvPr/>
        </p:nvSpPr>
        <p:spPr>
          <a:xfrm>
            <a:off x="8046720" y="219456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chemeClr val="accent2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+68%</a:t>
            </a:r>
            <a:endParaRPr lang="en-US" sz="4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" name="Text 3"/>
          <p:cNvSpPr/>
          <p:nvPr/>
        </p:nvSpPr>
        <p:spPr>
          <a:xfrm>
            <a:off x="8046720" y="29718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average ridership in Hot conditions vs Cold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046720" y="402336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Warmer temperatures consistently correlate with more rides per hour — comfort clearly drives casual and commute usage alike.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Drives Ride Count?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Count vs Temp / Humidity / Wind Speed scatter charts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685800" cy="6858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T°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600200" y="185623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Temperature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480560" y="1856232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relationship — rides trend up as temperature rises across the range observed.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3063240"/>
            <a:ext cx="685800" cy="6858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640080" y="30632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💧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600200" y="309067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Humidity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480560" y="3090672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negative relationship — very high humidity days tend to show lower ride counts.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297680"/>
            <a:ext cx="685800" cy="685800"/>
          </a:xfrm>
          <a:prstGeom prst="ellipse">
            <a:avLst/>
          </a:prstGeom>
          <a:solidFill>
            <a:srgbClr val="F4A2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640080" y="4297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💨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600200" y="432511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Wind Speed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480560" y="4325112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negative relationship — higher wind is associated with modestly fewer rides.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5623560"/>
            <a:ext cx="11064240" cy="685800"/>
          </a:xfrm>
          <a:prstGeom prst="rect">
            <a:avLst/>
          </a:prstGeom>
          <a:solidFill>
            <a:srgbClr val="FFFF0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822960" y="56235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temperature is the strongest single weather driver of demand — humidity and wind matter far less.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Growth Trend Across the Period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trend, 1 Jan – 14 Feb 2011</a:t>
            </a:r>
            <a:endParaRPr lang="en-US" sz="1400" dirty="0"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4187881888"/>
              </p:ext>
            </p:extLst>
          </p:nvPr>
        </p:nvGraphicFramePr>
        <p:xfrm>
          <a:off x="548640" y="1828800"/>
          <a:ext cx="694944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920240"/>
            <a:ext cx="3931920" cy="3931920"/>
          </a:xfrm>
          <a:prstGeom prst="rect">
            <a:avLst/>
          </a:prstGeom>
          <a:solidFill>
            <a:srgbClr val="00206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3"/>
          <p:cNvSpPr/>
          <p:nvPr/>
        </p:nvSpPr>
        <p:spPr>
          <a:xfrm>
            <a:off x="8046720" y="21488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up.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8046720" y="278892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rider segment trends upward over the 45-day window — Casual growing fastest, Registered close behind.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046720" y="429768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is based on a best-fit line across all 45 days, not just first-day-vs-last-day, so single-day spikes don't distort it.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Interactive Dashboard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5394960" cy="1828800"/>
          </a:xfrm>
          <a:prstGeom prst="rect">
            <a:avLst/>
          </a:prstGeom>
          <a:solidFill>
            <a:srgbClr val="FFFF0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777240" y="2057400"/>
            <a:ext cx="594360" cy="59436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777240" y="20574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1820" dirty="0"/>
          </a:p>
        </p:txBody>
      </p:sp>
      <p:sp>
        <p:nvSpPr>
          <p:cNvPr id="6" name="Text 4"/>
          <p:cNvSpPr/>
          <p:nvPr/>
        </p:nvSpPr>
        <p:spPr>
          <a:xfrm>
            <a:off x="1554480" y="20574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KPI </a:t>
            </a:r>
            <a:r>
              <a:rPr lang="en-US" sz="15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54480" y="251460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Rides, Casual, Registered and Avg/Hour update instantly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72200" y="1828800"/>
            <a:ext cx="5394960" cy="1828800"/>
          </a:xfrm>
          <a:prstGeom prst="rect">
            <a:avLst/>
          </a:prstGeom>
          <a:solidFill>
            <a:srgbClr val="00B0F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6400800" y="2057400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6400800" y="20574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</a:t>
            </a:r>
            <a:endParaRPr lang="en-US" sz="1820" dirty="0"/>
          </a:p>
        </p:txBody>
      </p:sp>
      <p:sp>
        <p:nvSpPr>
          <p:cNvPr id="11" name="Text 9"/>
          <p:cNvSpPr/>
          <p:nvPr/>
        </p:nvSpPr>
        <p:spPr>
          <a:xfrm>
            <a:off x="7178040" y="20574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Slicers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178040" y="251460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Weather, DayType, Time_Slot, Temp_Types, Date and Holiday_Status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931920"/>
            <a:ext cx="5394960" cy="1828800"/>
          </a:xfrm>
          <a:prstGeom prst="rect">
            <a:avLst/>
          </a:prstGeom>
          <a:solidFill>
            <a:srgbClr val="0070C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777240" y="4160520"/>
            <a:ext cx="594360" cy="59436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777240" y="41605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</a:t>
            </a:r>
            <a:endParaRPr lang="en-US" sz="1820" dirty="0"/>
          </a:p>
        </p:txBody>
      </p:sp>
      <p:sp>
        <p:nvSpPr>
          <p:cNvPr id="16" name="Text 14"/>
          <p:cNvSpPr/>
          <p:nvPr/>
        </p:nvSpPr>
        <p:spPr>
          <a:xfrm>
            <a:off x="1554480" y="41605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Pivot-Driven Views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54480" y="461772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Season, weather and hourly breakdowns refresh together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72200" y="3931920"/>
            <a:ext cx="5394960" cy="1828800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6400800" y="4160520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6400800" y="41605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1820" dirty="0"/>
          </a:p>
        </p:txBody>
      </p:sp>
      <p:sp>
        <p:nvSpPr>
          <p:cNvPr id="21" name="Text 19"/>
          <p:cNvSpPr/>
          <p:nvPr/>
        </p:nvSpPr>
        <p:spPr>
          <a:xfrm>
            <a:off x="7178040" y="41605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One-Click Filtering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178040" y="461772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combination of filters recalculates every chart at once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Automation with VBA (Bonus)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5394960" cy="1828800"/>
          </a:xfrm>
          <a:prstGeom prst="rect">
            <a:avLst/>
          </a:prstGeom>
          <a:solidFill>
            <a:srgbClr val="FFFF0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777240" y="2057400"/>
            <a:ext cx="594360" cy="59436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777240" y="20574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1820" dirty="0"/>
          </a:p>
        </p:txBody>
      </p:sp>
      <p:sp>
        <p:nvSpPr>
          <p:cNvPr id="6" name="Text 4"/>
          <p:cNvSpPr/>
          <p:nvPr/>
        </p:nvSpPr>
        <p:spPr>
          <a:xfrm>
            <a:off x="1554480" y="20574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Update_KPI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54480" y="251460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Fills Weekend (15,869) and Weekday (42,435) rentals with SUMIF, plus a Last Updated time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72200" y="1828800"/>
            <a:ext cx="5394960" cy="1828800"/>
          </a:xfrm>
          <a:prstGeom prst="rect">
            <a:avLst/>
          </a:prstGeom>
          <a:solidFill>
            <a:srgbClr val="00B0F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6400800" y="2057400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6400800" y="20574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</a:t>
            </a:r>
            <a:endParaRPr lang="en-US" sz="1820" dirty="0"/>
          </a:p>
        </p:txBody>
      </p:sp>
      <p:sp>
        <p:nvSpPr>
          <p:cNvPr id="11" name="Text 9"/>
          <p:cNvSpPr/>
          <p:nvPr/>
        </p:nvSpPr>
        <p:spPr>
          <a:xfrm>
            <a:off x="7178040" y="20574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Clean_Data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178040" y="251460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+ If: removes duplicate Instant rows and counts the 137 blank WindSpeed cells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931920"/>
            <a:ext cx="5394960" cy="1828800"/>
          </a:xfrm>
          <a:prstGeom prst="rect">
            <a:avLst/>
          </a:prstGeom>
          <a:solidFill>
            <a:srgbClr val="0070C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777240" y="4160520"/>
            <a:ext cx="594360" cy="59436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777240" y="41605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</a:t>
            </a:r>
            <a:endParaRPr lang="en-US" sz="1820" dirty="0"/>
          </a:p>
        </p:txBody>
      </p:sp>
      <p:sp>
        <p:nvSpPr>
          <p:cNvPr id="16" name="Text 14"/>
          <p:cNvSpPr/>
          <p:nvPr/>
        </p:nvSpPr>
        <p:spPr>
          <a:xfrm>
            <a:off x="1554480" y="41605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Check_KPI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54480" y="461772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Casual + Registered = 58,304 and Weekend + Weekday = 58,304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72200" y="3931920"/>
            <a:ext cx="5394960" cy="1828800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6400800" y="4160520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6400800" y="41605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1820" dirty="0"/>
          </a:p>
        </p:txBody>
      </p:sp>
      <p:sp>
        <p:nvSpPr>
          <p:cNvPr id="21" name="Text 19"/>
          <p:cNvSpPr/>
          <p:nvPr/>
        </p:nvSpPr>
        <p:spPr>
          <a:xfrm>
            <a:off x="7178040" y="41605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Demand_Level()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178040" y="461772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function: High (100+), Medium (50+) or Low rides per hour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One-Click Report Workflow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68880" cy="2926080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32461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Clean_Data removes duplicates and flags blank WindSpeed values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953512" y="3246120"/>
            <a:ext cx="274320" cy="182880"/>
          </a:xfrm>
          <a:prstGeom prst="rightArrow">
            <a:avLst/>
          </a:prstGeom>
          <a:solidFill>
            <a:srgbClr val="0B2A3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3246120" y="1920240"/>
            <a:ext cx="2468880" cy="29260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429000" y="21031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42900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Refresh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429000" y="32461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RefreshAll updates every pivot table, chart and slicer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50992" y="3246120"/>
            <a:ext cx="274320" cy="182880"/>
          </a:xfrm>
          <a:prstGeom prst="rightArrow">
            <a:avLst/>
          </a:prstGeom>
          <a:solidFill>
            <a:srgbClr val="0B2A3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5943600" y="1920240"/>
            <a:ext cx="2468880" cy="2926080"/>
          </a:xfrm>
          <a:prstGeom prst="rect">
            <a:avLst/>
          </a:prstGeom>
          <a:solidFill>
            <a:srgbClr val="00B05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126480" y="21031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12648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126480" y="32461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Update_KPI recalculates all 7 KPI cells on the VBA sheet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348472" y="3246120"/>
            <a:ext cx="274320" cy="182880"/>
          </a:xfrm>
          <a:prstGeom prst="rightArrow">
            <a:avLst/>
          </a:prstGeom>
          <a:solidFill>
            <a:srgbClr val="0B2A3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8641080" y="1920240"/>
            <a:ext cx="2468880" cy="2926080"/>
          </a:xfrm>
          <a:prstGeom prst="rect">
            <a:avLst/>
          </a:prstGeom>
          <a:solidFill>
            <a:srgbClr val="0070C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8823960" y="21031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882396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823960" y="32461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Check_KPI validates totals, then the DASHBOARD sheet opens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52120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one “Update Report” button runs Run_Full_Report — clean, refresh, update and verify in a single click (saved as .xlsm).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Insights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801368"/>
            <a:ext cx="292608" cy="29260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640080" y="18013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97280" y="1709928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subscribers drive 91.6% of all rides — the business runs on commuters, not one-off users.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514600"/>
            <a:ext cx="292608" cy="292608"/>
          </a:xfrm>
          <a:prstGeom prst="ellipse">
            <a:avLst/>
          </a:prstGeom>
          <a:solidFill>
            <a:srgbClr val="F4A2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0" y="242316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weather accounts for 64% of ridership; heavy rain/snow almost eliminates demand.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227832"/>
            <a:ext cx="292608" cy="29260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640080" y="32278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97280" y="313639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Weekdays average 63.3 rides/hour vs ~48 on weekends — a clear commute-driven pattern.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941064"/>
            <a:ext cx="292608" cy="292608"/>
          </a:xfrm>
          <a:prstGeom prst="ellipse">
            <a:avLst/>
          </a:prstGeom>
          <a:solidFill>
            <a:srgbClr val="F4A2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640080" y="3941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97280" y="3849624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daily peaks — 8 AM and 5–6 PM — mirror standard office commute times.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4654296"/>
            <a:ext cx="292608" cy="29260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640080" y="4654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97280" y="4562856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Warmer temperatures lift average hourly ridership by roughly 68% versus cold conditions.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5367528"/>
            <a:ext cx="292608" cy="292608"/>
          </a:xfrm>
          <a:prstGeom prst="ellipse">
            <a:avLst/>
          </a:prstGeom>
          <a:solidFill>
            <a:srgbClr val="F4A2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640080" y="5367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97280" y="5276088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B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rider segments (Casual, Registered, Total) trend upward across the 45-day window.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2A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4572000" cy="45720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502920" cy="502920"/>
          </a:xfrm>
          <a:prstGeom prst="ellipse">
            <a:avLst/>
          </a:prstGeom>
          <a:solidFill>
            <a:srgbClr val="F4A2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64008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40" dirty="0"/>
          </a:p>
        </p:txBody>
      </p:sp>
      <p:sp>
        <p:nvSpPr>
          <p:cNvPr id="6" name="Text 4"/>
          <p:cNvSpPr/>
          <p:nvPr/>
        </p:nvSpPr>
        <p:spPr>
          <a:xfrm>
            <a:off x="1371600" y="139903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Protect peak-hour capacity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371600" y="182880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 bike availability at 8 AM and 5–6 PM when commuter demand is highest.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560320"/>
            <a:ext cx="502920" cy="502920"/>
          </a:xfrm>
          <a:prstGeom prst="ellipse">
            <a:avLst/>
          </a:prstGeom>
          <a:solidFill>
            <a:srgbClr val="F4A2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64008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40" dirty="0"/>
          </a:p>
        </p:txBody>
      </p:sp>
      <p:sp>
        <p:nvSpPr>
          <p:cNvPr id="10" name="Text 8"/>
          <p:cNvSpPr/>
          <p:nvPr/>
        </p:nvSpPr>
        <p:spPr>
          <a:xfrm>
            <a:off x="1371600" y="254203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 casual-to-registered conversion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371600" y="297180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Casual riders are a small share of volume — target them with subscription offers.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703320"/>
            <a:ext cx="502920" cy="502920"/>
          </a:xfrm>
          <a:prstGeom prst="ellipse">
            <a:avLst/>
          </a:prstGeom>
          <a:solidFill>
            <a:srgbClr val="F4A2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64008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40" dirty="0"/>
          </a:p>
        </p:txBody>
      </p:sp>
      <p:sp>
        <p:nvSpPr>
          <p:cNvPr id="14" name="Text 12"/>
          <p:cNvSpPr/>
          <p:nvPr/>
        </p:nvSpPr>
        <p:spPr>
          <a:xfrm>
            <a:off x="1371600" y="368503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around weather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71600" y="411480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forecast data to pre-position bikes ahead of clear-weather days and reduce ops on heavy-rain days.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846320"/>
            <a:ext cx="502920" cy="502920"/>
          </a:xfrm>
          <a:prstGeom prst="ellipse">
            <a:avLst/>
          </a:prstGeom>
          <a:solidFill>
            <a:srgbClr val="F4A26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640080" y="4846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40" dirty="0"/>
          </a:p>
        </p:txBody>
      </p:sp>
      <p:sp>
        <p:nvSpPr>
          <p:cNvPr id="18" name="Text 16"/>
          <p:cNvSpPr/>
          <p:nvPr/>
        </p:nvSpPr>
        <p:spPr>
          <a:xfrm>
            <a:off x="1371600" y="482803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Re-check trend with full-year data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371600" y="525780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45-day sample shows upward growth — validate against a complete annual dataset before committing budget.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6172200"/>
            <a:ext cx="1060704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640080" y="6263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966</Words>
  <Application>Microsoft Office PowerPoint</Application>
  <PresentationFormat>Widescreen</PresentationFormat>
  <Paragraphs>173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md shahnshah</cp:lastModifiedBy>
  <cp:revision>29</cp:revision>
  <dcterms:created xsi:type="dcterms:W3CDTF">2026-09-27T07:23:05Z</dcterms:created>
  <dcterms:modified xsi:type="dcterms:W3CDTF">2026-09-30T08:48:32Z</dcterms:modified>
</cp:coreProperties>
</file>