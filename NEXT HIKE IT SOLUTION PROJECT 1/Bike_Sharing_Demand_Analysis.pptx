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3" r:id="rId14"/>
    <p:sldId id="268" r:id="rId15"/>
    <p:sldId id="269" r:id="rId16"/>
    <p:sldId id="270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dPt>
            <c:idx val="0"/>
            <c:bubble3D val="0"/>
            <c:spPr>
              <a:solidFill>
                <a:srgbClr val="065A82"/>
              </a:solidFill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1-47ED-4DEA-BB1E-37434A11CAC1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  <a:scene3d>
                <a:camera prst="orthographicFront"/>
                <a:lightRig rig="threePt" dir="t"/>
              </a:scene3d>
              <a:sp3d>
                <a:bevelT w="190500" h="38100"/>
              </a:sp3d>
            </c:spPr>
            <c:extLst>
              <c:ext xmlns:c16="http://schemas.microsoft.com/office/drawing/2014/chart" uri="{C3380CC4-5D6E-409C-BE32-E72D297353CC}">
                <c16:uniqueId val="{00000003-47ED-4DEA-BB1E-37434A11CAC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ED-4DEA-BB1E-37434A11CAC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ED-4DEA-BB1E-37434A11CA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53383</c:v>
                </c:pt>
                <c:pt idx="1">
                  <c:v>4921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ED-4DEA-BB1E-37434A11C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Rides</c:v>
                </c:pt>
              </c:strCache>
            </c:strRef>
          </c:tx>
          <c:spPr>
            <a:solidFill>
              <a:srgbClr val="00B050"/>
            </a:solidFill>
            <a:effectLst/>
            <a:scene3d>
              <a:camera prst="orthographicFront"/>
              <a:lightRig rig="threePt" dir="t"/>
            </a:scene3d>
            <a:sp3d prstMaterial="matte">
              <a:bevelT w="63500" h="63500" prst="artDeco"/>
              <a:contourClr>
                <a:srgbClr val="000000"/>
              </a:contourClr>
            </a:sp3d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Mist / Cloudy</c:v>
                </c:pt>
                <c:pt idx="2">
                  <c:v>Light Rain / Snow</c:v>
                </c:pt>
                <c:pt idx="3">
                  <c:v>Heavy Rain / Snow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37373</c:v>
                </c:pt>
                <c:pt idx="1">
                  <c:v>18106</c:v>
                </c:pt>
                <c:pt idx="2">
                  <c:v>2789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C1-41DB-BBFF-955C661FD7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 / Hour</c:v>
                </c:pt>
              </c:strCache>
            </c:strRef>
          </c:tx>
          <c:spPr>
            <a:solidFill>
              <a:srgbClr val="00B050"/>
            </a:solidFill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Weekday</c:v>
                </c:pt>
                <c:pt idx="1">
                  <c:v>Sunday</c:v>
                </c:pt>
                <c:pt idx="2">
                  <c:v>Saturday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63.3</c:v>
                </c:pt>
                <c:pt idx="1">
                  <c:v>49.5</c:v>
                </c:pt>
                <c:pt idx="2">
                  <c:v>46.7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E-4A8B-97AA-71A5485E0B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Rides</c:v>
                </c:pt>
              </c:strCache>
            </c:strRef>
          </c:tx>
          <c:spPr>
            <a:solidFill>
              <a:srgbClr val="00B050"/>
            </a:solidFill>
            <a:effectLst/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16968</c:v>
                </c:pt>
                <c:pt idx="1">
                  <c:v>23308</c:v>
                </c:pt>
                <c:pt idx="2">
                  <c:v>16187</c:v>
                </c:pt>
                <c:pt idx="3">
                  <c:v>1841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BF-4D43-9B39-B5888251C5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 / Hour</c:v>
                </c:pt>
              </c:strCache>
            </c:strRef>
          </c:tx>
          <c:spPr>
            <a:solidFill>
              <a:srgbClr val="F4A261"/>
            </a:solidFill>
            <a:effectLst/>
            <a:scene3d>
              <a:camera prst="orthographicFront"/>
              <a:lightRig rig="threePt" dir="t"/>
            </a:scene3d>
            <a:sp3d prstMaterial="matte">
              <a:bevelT w="127000" h="63500"/>
            </a:sp3d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Cold</c:v>
                </c:pt>
                <c:pt idx="1">
                  <c:v>Mild</c:v>
                </c:pt>
                <c:pt idx="2">
                  <c:v>Hot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51.1</c:v>
                </c:pt>
                <c:pt idx="1">
                  <c:v>65.599999999999994</c:v>
                </c:pt>
                <c:pt idx="2">
                  <c:v>85.7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3E-4BE2-85E1-491BB4EA2F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 Growth %</c:v>
                </c:pt>
              </c:strCache>
            </c:strRef>
          </c:tx>
          <c:spPr>
            <a:solidFill>
              <a:srgbClr val="92D050"/>
            </a:solidFill>
            <a:effectLst/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2F-4FAE-8BCA-0FAA82859CF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E2F-4FAE-8BCA-0FAA82859CF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E2F-4FAE-8BCA-0FAA82859CF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Casual</c:v>
                </c:pt>
                <c:pt idx="1">
                  <c:v>Registered</c:v>
                </c:pt>
                <c:pt idx="2">
                  <c:v>Total Count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41.2</c:v>
                </c:pt>
                <c:pt idx="1">
                  <c:v>22.6</c:v>
                </c:pt>
                <c:pt idx="2">
                  <c:v>24.1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2F-4FAE-8BCA-0FAA82859C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04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E04C3-BC75-B8B2-4EC7-1052BF36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A603A-AB8E-6E0E-7207-16C2050EF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EF96B-8CA3-4EA5-B5A3-CF58F3F78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AEE7D-F60D-A17E-318D-2AD97C3F2D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66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FB48D-872F-C729-BAF8-00FEC680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C78C2-1E00-798E-A7FA-49560F7D8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36410-2D59-E85C-1E00-EED083017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B425E-C6E2-62ED-8476-883BF981D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5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37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jpeg"/><Relationship Id="rId9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chemeClr val="accent6">
              <a:lumMod val="75000"/>
              <a:alpha val="34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chemeClr val="accent6">
              <a:lumMod val="75000"/>
              <a:alpha val="58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80" dirty="0"/>
          </a:p>
        </p:txBody>
      </p:sp>
      <p:sp>
        <p:nvSpPr>
          <p:cNvPr id="6" name="Text 4"/>
          <p:cNvSpPr/>
          <p:nvPr/>
        </p:nvSpPr>
        <p:spPr>
          <a:xfrm>
            <a:off x="1694303" y="2164080"/>
            <a:ext cx="80307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 Sharing Demand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016989" y="2971801"/>
            <a:ext cx="75270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rider behaviour through weather, time and demand patterns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1742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72858-3B5B-D600-19E1-6F2E6C413AC7}"/>
              </a:ext>
            </a:extLst>
          </p:cNvPr>
          <p:cNvSpPr txBox="1"/>
          <p:nvPr/>
        </p:nvSpPr>
        <p:spPr>
          <a:xfrm>
            <a:off x="9418320" y="4293215"/>
            <a:ext cx="2199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Submitted BY</a:t>
            </a:r>
          </a:p>
          <a:p>
            <a:r>
              <a:rPr lang="en-US" dirty="0">
                <a:solidFill>
                  <a:schemeClr val="bg1"/>
                </a:solidFill>
              </a:rPr>
              <a:t>MD SHAHNSHAH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F5378C-377F-57B4-BBFF-FBE356AC027D}"/>
              </a:ext>
            </a:extLst>
          </p:cNvPr>
          <p:cNvGrpSpPr/>
          <p:nvPr/>
        </p:nvGrpSpPr>
        <p:grpSpPr>
          <a:xfrm>
            <a:off x="4416345" y="868680"/>
            <a:ext cx="1904556" cy="1464390"/>
            <a:chOff x="822960" y="914400"/>
            <a:chExt cx="777240" cy="777240"/>
          </a:xfrm>
        </p:grpSpPr>
        <p:sp>
          <p:nvSpPr>
            <p:cNvPr id="4" name="Shape 2"/>
            <p:cNvSpPr/>
            <p:nvPr/>
          </p:nvSpPr>
          <p:spPr>
            <a:xfrm>
              <a:off x="822960" y="914400"/>
              <a:ext cx="777240" cy="777240"/>
            </a:xfrm>
            <a:prstGeom prst="ellipse">
              <a:avLst/>
            </a:prstGeom>
            <a:solidFill>
              <a:srgbClr val="FFFF00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C2FF8E4-BFBE-7241-AC92-2384BCA4C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286" b="93429" l="4498" r="95329">
                          <a14:foregroundMark x1="12976" y1="53714" x2="9170" y2="66571"/>
                          <a14:foregroundMark x1="10208" y1="58857" x2="7785" y2="74000"/>
                          <a14:foregroundMark x1="5363" y1="68000" x2="5363" y2="76286"/>
                          <a14:foregroundMark x1="87024" y1="62000" x2="93945" y2="54286"/>
                          <a14:foregroundMark x1="89446" y1="23429" x2="95329" y2="25714"/>
                          <a14:foregroundMark x1="93945" y1="56000" x2="95329" y2="52286"/>
                          <a14:foregroundMark x1="86678" y1="86857" x2="73875" y2="86857"/>
                          <a14:foregroundMark x1="74913" y1="90000" x2="78720" y2="90000"/>
                          <a14:foregroundMark x1="17128" y1="16571" x2="20242" y2="13714"/>
                          <a14:foregroundMark x1="23702" y1="6857" x2="23702" y2="6857"/>
                          <a14:foregroundMark x1="24740" y1="4571" x2="24740" y2="4571"/>
                          <a14:foregroundMark x1="20934" y1="8286" x2="17474" y2="12857"/>
                          <a14:foregroundMark x1="26817" y1="86286" x2="15744" y2="87714"/>
                          <a14:foregroundMark x1="5363" y1="68571" x2="5363" y2="70286"/>
                          <a14:foregroundMark x1="5017" y1="66571" x2="4844" y2="75714"/>
                          <a14:foregroundMark x1="23356" y1="93429" x2="14706" y2="93429"/>
                          <a14:foregroundMark x1="5536" y1="63714" x2="5190" y2="7457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61060" y="1073953"/>
              <a:ext cx="701040" cy="492257"/>
            </a:xfrm>
            <a:prstGeom prst="rect">
              <a:avLst/>
            </a:prstGeom>
          </p:spPr>
        </p:pic>
      </p:grpSp>
      <p:sp>
        <p:nvSpPr>
          <p:cNvPr id="13" name="Shape 6">
            <a:extLst>
              <a:ext uri="{FF2B5EF4-FFF2-40B4-BE49-F238E27FC236}">
                <a16:creationId xmlns:a16="http://schemas.microsoft.com/office/drawing/2014/main" id="{BC93D670-C6C5-B929-B6E5-EDFE28244945}"/>
              </a:ext>
            </a:extLst>
          </p:cNvPr>
          <p:cNvSpPr/>
          <p:nvPr/>
        </p:nvSpPr>
        <p:spPr>
          <a:xfrm>
            <a:off x="9166860" y="4091940"/>
            <a:ext cx="201168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60920" y="1485900"/>
            <a:ext cx="4297680" cy="4709160"/>
          </a:xfrm>
          <a:prstGeom prst="rect">
            <a:avLst/>
          </a:prstGeom>
          <a:pattFill prst="pct70">
            <a:fgClr>
              <a:srgbClr val="92D050"/>
            </a:fgClr>
            <a:bgClr>
              <a:schemeClr val="bg1"/>
            </a:bgClr>
          </a:patt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859536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2651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hourly bike-share usage to understand what drives rider demand, and turn that into decisions the business can act 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0" y="4206240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960" dirty="0"/>
          </a:p>
        </p:txBody>
      </p:sp>
      <p:sp>
        <p:nvSpPr>
          <p:cNvPr id="10" name="Text 8"/>
          <p:cNvSpPr/>
          <p:nvPr/>
        </p:nvSpPr>
        <p:spPr>
          <a:xfrm>
            <a:off x="859536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4892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volume, weather &amp; temperature effects, day-type and hourly patterns, and growth trend over the observed period.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1645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rides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011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between casual  and registered  users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ride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063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weekend, and time-of-day demand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affects demand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 and temperature band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800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heading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5166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direction across the 45-day window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14600" cy="1554480"/>
          </a:xfrm>
          <a:prstGeom prst="rect">
            <a:avLst/>
          </a:prstGeom>
          <a:solidFill>
            <a:srgbClr val="92D050">
              <a:alpha val="61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400" dirty="0">
              <a:solidFill>
                <a:srgbClr val="FFFF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737360"/>
            <a:ext cx="2514600" cy="1554480"/>
          </a:xfrm>
          <a:prstGeom prst="rect">
            <a:avLst/>
          </a:prstGeom>
          <a:solidFill>
            <a:srgbClr val="92D050">
              <a:alpha val="61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4612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400" dirty="0">
              <a:solidFill>
                <a:srgbClr val="FFFF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4612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2514600" cy="1554480"/>
          </a:xfrm>
          <a:prstGeom prst="rect">
            <a:avLst/>
          </a:prstGeom>
          <a:solidFill>
            <a:srgbClr val="92D050">
              <a:alpha val="61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>
              <a:solidFill>
                <a:srgbClr val="FFFF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41080" y="1737360"/>
            <a:ext cx="2514600" cy="1554480"/>
          </a:xfrm>
          <a:prstGeom prst="rect">
            <a:avLst/>
          </a:prstGeom>
          <a:solidFill>
            <a:srgbClr val="92D050">
              <a:alpha val="61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41080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>
              <a:solidFill>
                <a:srgbClr val="FFFF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4108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merged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window: 1 January 2011 – 14 February 2011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fields captured per hour: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Hour  ·  Season, Weather, Temperature, Humidity, Wind Speed  ·  Casual, Registered &amp; Total ride Counts  ·  Holiday &amp; Weekday flags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0703560" cy="8229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dataset is an early 45-day sample — not the full annual dataset, so trends should be read as an early signal, not a full-year conclusion.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8880" cy="29260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raw source datasets combined into one unified table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53512" y="3246120"/>
            <a:ext cx="274320" cy="182880"/>
          </a:xfrm>
          <a:prstGeom prst="rightArrow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468880" cy="29260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90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headers and data types standardised across the sheet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50992" y="3246120"/>
            <a:ext cx="274320" cy="182880"/>
          </a:xfrm>
          <a:prstGeom prst="rightArrow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0" y="1920240"/>
            <a:ext cx="2468880" cy="292608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readable fields built: Season_Name, Weather_Name,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DayType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48472" y="3246120"/>
            <a:ext cx="274320" cy="182880"/>
          </a:xfrm>
          <a:prstGeom prst="rightArrow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41080" y="1920240"/>
            <a:ext cx="2468880" cy="292608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2396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Time_Slot, Temp_Types (Cold/Mild/Hot) and Holiday_Status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single, analysis-ready table (“FinaL_Data_Set”) driving every pivot table, KPI and slicer in the workbook.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97480" cy="237744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828799"/>
            <a:ext cx="2697480" cy="35992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697480" cy="9144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58.3K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97480" cy="237744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97480" cy="35992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697480" cy="9144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697480" cy="237744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97480" cy="359922"/>
          </a:xfrm>
          <a:prstGeom prst="rect">
            <a:avLst/>
          </a:prstGeom>
          <a:solidFill>
            <a:srgbClr val="0B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697480" cy="9144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Riders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89720" y="1828800"/>
            <a:ext cx="2697480" cy="237744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697480" cy="35992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89720" y="2286000"/>
            <a:ext cx="2697480" cy="914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89720" y="3200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Rides / Hour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(subscriber) riders account for the large majority of total volume — see split on the next slide.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10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 vs Registered Riders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035892395"/>
              </p:ext>
            </p:extLst>
          </p:nvPr>
        </p:nvGraphicFramePr>
        <p:xfrm>
          <a:off x="5486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699406"/>
            <a:ext cx="5486400" cy="433563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6492240" y="2057400"/>
            <a:ext cx="2743200" cy="7315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92240" y="2697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rides come from Registered  users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2240" y="3520440"/>
            <a:ext cx="2743200" cy="7315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3000">
                <a:schemeClr val="accent1">
                  <a:lumMod val="45000"/>
                  <a:lumOff val="55000"/>
                </a:schemeClr>
              </a:gs>
              <a:gs pos="87000">
                <a:schemeClr val="accent1">
                  <a:lumMod val="45000"/>
                  <a:lumOff val="55000"/>
                </a:schemeClr>
              </a:gs>
              <a:gs pos="35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9224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Casual, pay-per-ride users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demand is driven mainly by regular commuters, not one-off riders — retention matters more than acquisition.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Impact on Ridership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293635284"/>
              </p:ext>
            </p:extLst>
          </p:nvPr>
        </p:nvGraphicFramePr>
        <p:xfrm>
          <a:off x="548640" y="1691640"/>
          <a:ext cx="7589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351520" y="1780162"/>
            <a:ext cx="3291840" cy="4023360"/>
          </a:xfrm>
          <a:prstGeom prst="rect">
            <a:avLst/>
          </a:prstGeom>
          <a:solidFill>
            <a:schemeClr val="accent6">
              <a:lumMod val="75000"/>
              <a:alpha val="84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9170589" y="2086389"/>
            <a:ext cx="1653702" cy="731520"/>
          </a:xfrm>
          <a:prstGeom prst="rect">
            <a:avLst/>
          </a:prstGeom>
          <a:noFill/>
          <a:ln/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r>
              <a:rPr lang="en-US" sz="30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>
              <a:solidFill>
                <a:srgbClr val="FFFF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68680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rides happen in Clear weather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0" y="40233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 / snow all but stops ridership — only 36 rides recorded.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10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 Weekend Demand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575168969"/>
              </p:ext>
            </p:extLst>
          </p:nvPr>
        </p:nvGraphicFramePr>
        <p:xfrm>
          <a:off x="548640" y="173736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920240"/>
            <a:ext cx="3931920" cy="3840480"/>
          </a:xfrm>
          <a:prstGeom prst="rect">
            <a:avLst/>
          </a:prstGeom>
          <a:solidFill>
            <a:srgbClr val="92D050">
              <a:alpha val="49000"/>
            </a:srgbClr>
          </a:solidFill>
          <a:ln/>
          <a:effectLst>
            <a:softEdge rad="127000"/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04672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0467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680" dirty="0"/>
          </a:p>
        </p:txBody>
      </p:sp>
      <p:sp>
        <p:nvSpPr>
          <p:cNvPr id="7" name="Text 4"/>
          <p:cNvSpPr/>
          <p:nvPr/>
        </p:nvSpPr>
        <p:spPr>
          <a:xfrm>
            <a:off x="873252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Weekdays lead demand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hourly rides are highest on weekdays (63.3), pointing to a strong commuter pattern.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0" y="411480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0467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</a:t>
            </a:r>
            <a:endParaRPr lang="en-US" sz="1680" dirty="0"/>
          </a:p>
        </p:txBody>
      </p:sp>
      <p:sp>
        <p:nvSpPr>
          <p:cNvPr id="11" name="Text 8"/>
          <p:cNvSpPr/>
          <p:nvPr/>
        </p:nvSpPr>
        <p:spPr>
          <a:xfrm>
            <a:off x="873252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Weekends are quieter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and Sunday run 25–26% lower per hour — likely more leisure, fewer commutes.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Time-of-Day Demand Pattern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211591189"/>
              </p:ext>
            </p:extLst>
          </p:nvPr>
        </p:nvGraphicFramePr>
        <p:xfrm>
          <a:off x="548640" y="173736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920240"/>
            <a:ext cx="3931920" cy="38404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hours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5–6 PM  ·  8 AM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46720" y="33375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hours line up with typical commute times, reinforcing that most riders use the service to get to and from work.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hours (10 PM–5 AM) see minimal activity, under 2,000 rides across the whole period.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Impact on Ridership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996301035"/>
              </p:ext>
            </p:extLst>
          </p:nvPr>
        </p:nvGraphicFramePr>
        <p:xfrm>
          <a:off x="548640" y="173736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920240"/>
            <a:ext cx="3931920" cy="384048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/>
          <a:effectLst>
            <a:softEdge rad="127000"/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046720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+68%</a:t>
            </a:r>
            <a:endParaRPr lang="en-US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046720" y="2971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ridership in hot conditions vs cold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4023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temperatures consistently correlate with more rides per hour — comfort clearly drives casual and commute usage alike.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Trend Across the Period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trend, 1 Jan – 14 Feb 2011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39781129"/>
              </p:ext>
            </p:extLst>
          </p:nvPr>
        </p:nvGraphicFramePr>
        <p:xfrm>
          <a:off x="548640" y="182880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04581"/>
            <a:ext cx="3931920" cy="393192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04672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up.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27889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rider segment trends upward over the 45-day window — Casual growing fastest, Registered close behind.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297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based on a best-fit line across all 45 days, not just first-day-vs-last-day, so single-day spikes don't distort 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Ride Count?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Count vs Temp / Humidity / Wind Speed scatter charts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85623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relationship — rides trend up as temperature rises across the range observed.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3090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Humidity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09067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relationship — very high humidity days tend to show lower ride counts.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685800" cy="6858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43251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Speed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432511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negative relationship — higher wind is associated with modestly fewer rides.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temperature is the strongest single weather driver of demand — humidity and wind matter far less.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4544-2CBD-751E-3C34-6CD8C0F0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A044933-A839-3112-FF2C-FF43C5100598}"/>
              </a:ext>
            </a:extLst>
          </p:cNvPr>
          <p:cNvSpPr txBox="1"/>
          <p:nvPr/>
        </p:nvSpPr>
        <p:spPr>
          <a:xfrm>
            <a:off x="533399" y="364067"/>
            <a:ext cx="6951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ANOVA &amp; Simple Linear Regression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357C9-4D5B-3172-63A5-CAA2F03EB0F8}"/>
              </a:ext>
            </a:extLst>
          </p:cNvPr>
          <p:cNvSpPr txBox="1"/>
          <p:nvPr/>
        </p:nvSpPr>
        <p:spPr>
          <a:xfrm>
            <a:off x="533399" y="869834"/>
            <a:ext cx="6299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To examine whether temperature has a statistically significant linear relationship with daily bike sharing counts.</a:t>
            </a: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F5E91988-37A0-DECF-D442-C9043607A6D7}"/>
              </a:ext>
            </a:extLst>
          </p:cNvPr>
          <p:cNvSpPr/>
          <p:nvPr/>
        </p:nvSpPr>
        <p:spPr>
          <a:xfrm>
            <a:off x="675640" y="1872827"/>
            <a:ext cx="1703493" cy="114130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AF213554-8A0B-EBB2-FE08-C63DAB2EDC0B}"/>
              </a:ext>
            </a:extLst>
          </p:cNvPr>
          <p:cNvSpPr/>
          <p:nvPr/>
        </p:nvSpPr>
        <p:spPr>
          <a:xfrm>
            <a:off x="3682998" y="1873073"/>
            <a:ext cx="2047244" cy="114130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5AEF89FD-3772-7977-31F3-26B21A63AFDB}"/>
              </a:ext>
            </a:extLst>
          </p:cNvPr>
          <p:cNvSpPr/>
          <p:nvPr/>
        </p:nvSpPr>
        <p:spPr>
          <a:xfrm>
            <a:off x="660398" y="3607436"/>
            <a:ext cx="1771227" cy="11362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270C084-1D94-BC08-848C-7064A7332EE0}"/>
              </a:ext>
            </a:extLst>
          </p:cNvPr>
          <p:cNvSpPr/>
          <p:nvPr/>
        </p:nvSpPr>
        <p:spPr>
          <a:xfrm>
            <a:off x="3635587" y="3562671"/>
            <a:ext cx="2094655" cy="114130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453DB9F6-0A90-6E4B-B270-328A1700110C}"/>
              </a:ext>
            </a:extLst>
          </p:cNvPr>
          <p:cNvSpPr/>
          <p:nvPr/>
        </p:nvSpPr>
        <p:spPr>
          <a:xfrm>
            <a:off x="7704667" y="1445364"/>
            <a:ext cx="3931920" cy="384048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48513B-317A-E871-9FC3-CC27ACC16580}"/>
                  </a:ext>
                </a:extLst>
              </p:cNvPr>
              <p:cNvSpPr txBox="1"/>
              <p:nvPr/>
            </p:nvSpPr>
            <p:spPr>
              <a:xfrm>
                <a:off x="8009467" y="1914725"/>
                <a:ext cx="35068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Independent variable (X): Temperature (temp)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Dependent variable (Y): Total bike rentals (count)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Sample size: 198 observations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Significance level: </a:t>
                </a:r>
                <a14:m>
                  <m:oMath xmlns:m="http://schemas.openxmlformats.org/officeDocument/2006/math">
                    <m:r>
                      <a:rPr lang="en-IN" sz="1200" i="1">
                        <a:solidFill>
                          <a:schemeClr val="bg1">
                            <a:lumMod val="95000"/>
                          </a:schemeClr>
                        </a:solidFill>
                      </a:rPr>
                      <m:t>𝛼</m:t>
                    </m:r>
                    <m:r>
                      <a:rPr lang="en-IN" sz="1200">
                        <a:solidFill>
                          <a:schemeClr val="bg1">
                            <a:lumMod val="95000"/>
                          </a:schemeClr>
                        </a:solidFill>
                      </a:rPr>
                      <m:t>=0.05</m:t>
                    </m:r>
                  </m:oMath>
                </a14:m>
                <a:endParaRPr lang="en-IN" sz="12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48513B-317A-E871-9FC3-CC27ACC16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467" y="1914725"/>
                <a:ext cx="3506893" cy="830997"/>
              </a:xfrm>
              <a:prstGeom prst="rect">
                <a:avLst/>
              </a:prstGeom>
              <a:blipFill>
                <a:blip r:embed="rId3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E99D26E-A31E-F264-61AC-457180451F15}"/>
              </a:ext>
            </a:extLst>
          </p:cNvPr>
          <p:cNvSpPr txBox="1"/>
          <p:nvPr/>
        </p:nvSpPr>
        <p:spPr>
          <a:xfrm>
            <a:off x="8009467" y="1583081"/>
            <a:ext cx="280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E807D9-4BC8-A8D9-1B58-70E6662929CF}"/>
              </a:ext>
            </a:extLst>
          </p:cNvPr>
          <p:cNvSpPr txBox="1"/>
          <p:nvPr/>
        </p:nvSpPr>
        <p:spPr>
          <a:xfrm>
            <a:off x="8009467" y="2759200"/>
            <a:ext cx="280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Regression Equation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ADAC3D-B3D4-0EC4-77F8-C67FC9FF8100}"/>
              </a:ext>
            </a:extLst>
          </p:cNvPr>
          <p:cNvSpPr txBox="1"/>
          <p:nvPr/>
        </p:nvSpPr>
        <p:spPr>
          <a:xfrm>
            <a:off x="8009467" y="3165891"/>
            <a:ext cx="325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Count= −19.227+166.849(temp)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52EDB5-3811-7F53-24E2-7FC902C788DC}"/>
              </a:ext>
            </a:extLst>
          </p:cNvPr>
          <p:cNvSpPr txBox="1"/>
          <p:nvPr/>
        </p:nvSpPr>
        <p:spPr>
          <a:xfrm>
            <a:off x="8009467" y="3448268"/>
            <a:ext cx="280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Hypothesis Testing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E20F620-ABD1-FA24-675A-30DB2B3F126F}"/>
                  </a:ext>
                </a:extLst>
              </p:cNvPr>
              <p:cNvSpPr txBox="1"/>
              <p:nvPr/>
            </p:nvSpPr>
            <p:spPr>
              <a:xfrm>
                <a:off x="8009466" y="3834531"/>
                <a:ext cx="350689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2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2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IN" sz="120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1200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​: Temperature has no linear relationship with bike sharing count.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IN" sz="105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</a:rPr>
                          <m:t>𝑯</m:t>
                        </m:r>
                      </m:e>
                      <m:sub>
                        <m:r>
                          <a:rPr lang="en-IN" sz="1050" b="1" i="1">
                            <a:solidFill>
                              <a:schemeClr val="bg1">
                                <a:lumMod val="95000"/>
                              </a:schemeClr>
                            </a:solidFill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: Temperature has a linear relationship with bike sharing count.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bg1">
                        <a:lumMod val="95000"/>
                      </a:schemeClr>
                    </a:solidFill>
                  </a:rPr>
                  <a:t>Decision</a:t>
                </a:r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: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i="1">
                            <a:solidFill>
                              <a:schemeClr val="bg1">
                                <a:lumMod val="9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IN" sz="1050" i="1">
                            <a:solidFill>
                              <a:schemeClr val="bg1">
                                <a:lumMod val="95000"/>
                              </a:schemeClr>
                            </a:solidFill>
                          </a:rPr>
                          <m:t>𝐻</m:t>
                        </m:r>
                      </m:e>
                      <m:sub>
                        <m:r>
                          <a:rPr lang="en-IN" sz="1050">
                            <a:solidFill>
                              <a:schemeClr val="bg1">
                                <a:lumMod val="95000"/>
                              </a:schemeClr>
                            </a:solidFill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1200" dirty="0">
                    <a:solidFill>
                      <a:schemeClr val="bg1">
                        <a:lumMod val="95000"/>
                      </a:schemeClr>
                    </a:solidFill>
                  </a:rPr>
                  <a:t>, because the p-value is below 0.05.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IN" sz="12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E20F620-ABD1-FA24-675A-30DB2B3F1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466" y="3834531"/>
                <a:ext cx="3506893" cy="1384995"/>
              </a:xfrm>
              <a:prstGeom prst="rect">
                <a:avLst/>
              </a:prstGeom>
              <a:blipFill>
                <a:blip r:embed="rId4"/>
                <a:stretch>
                  <a:fillRect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Shape 14">
            <a:extLst>
              <a:ext uri="{FF2B5EF4-FFF2-40B4-BE49-F238E27FC236}">
                <a16:creationId xmlns:a16="http://schemas.microsoft.com/office/drawing/2014/main" id="{76F31861-131F-0DE5-8BE4-931BB7D5AF3D}"/>
              </a:ext>
            </a:extLst>
          </p:cNvPr>
          <p:cNvSpPr/>
          <p:nvPr/>
        </p:nvSpPr>
        <p:spPr>
          <a:xfrm>
            <a:off x="533398" y="5910399"/>
            <a:ext cx="11064240" cy="6858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04AE6B-024E-E2E7-F362-FE77B965580B}"/>
              </a:ext>
            </a:extLst>
          </p:cNvPr>
          <p:cNvSpPr txBox="1"/>
          <p:nvPr/>
        </p:nvSpPr>
        <p:spPr>
          <a:xfrm>
            <a:off x="675640" y="6095324"/>
            <a:ext cx="108407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Temperature is a statistically significant predictor of bike sharing demand in this sample. The SLR model explains approximately 80.72% of the observed variation in sharing counts. Other factors and unexplained variation may still affect demand.</a:t>
            </a: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F2BD036-8FC6-4C1D-1759-DA2ACA15B833}"/>
              </a:ext>
            </a:extLst>
          </p:cNvPr>
          <p:cNvSpPr/>
          <p:nvPr/>
        </p:nvSpPr>
        <p:spPr>
          <a:xfrm>
            <a:off x="867409" y="1979423"/>
            <a:ext cx="1319954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</a:rPr>
              <a:t>R-squared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AF04CA8B-FFF4-4037-444D-5D576C3319F8}"/>
              </a:ext>
            </a:extLst>
          </p:cNvPr>
          <p:cNvSpPr/>
          <p:nvPr/>
        </p:nvSpPr>
        <p:spPr>
          <a:xfrm>
            <a:off x="867409" y="2274898"/>
            <a:ext cx="1319954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80.72%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C44EC41-54BA-05ED-9053-0AC3BE568E47}"/>
              </a:ext>
            </a:extLst>
          </p:cNvPr>
          <p:cNvSpPr/>
          <p:nvPr/>
        </p:nvSpPr>
        <p:spPr>
          <a:xfrm>
            <a:off x="867409" y="2577262"/>
            <a:ext cx="1319954" cy="268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Variance explained</a:t>
            </a:r>
            <a:endParaRPr lang="en-US" sz="1000" b="1" dirty="0">
              <a:solidFill>
                <a:srgbClr val="FFFF00"/>
              </a:solidFill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0B4C95E7-0853-DAB3-B6F9-80B3D2EED77F}"/>
              </a:ext>
            </a:extLst>
          </p:cNvPr>
          <p:cNvSpPr/>
          <p:nvPr/>
        </p:nvSpPr>
        <p:spPr>
          <a:xfrm>
            <a:off x="867409" y="3683264"/>
            <a:ext cx="1319954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</a:rPr>
              <a:t>F-statistic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B04CB7AC-8FA2-9EFF-E11E-9260DFA646F7}"/>
              </a:ext>
            </a:extLst>
          </p:cNvPr>
          <p:cNvSpPr/>
          <p:nvPr/>
        </p:nvSpPr>
        <p:spPr>
          <a:xfrm>
            <a:off x="830574" y="3925609"/>
            <a:ext cx="1319954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820.69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DEBA8958-C48D-98D7-8CF2-7CBB96DF4173}"/>
              </a:ext>
            </a:extLst>
          </p:cNvPr>
          <p:cNvSpPr/>
          <p:nvPr/>
        </p:nvSpPr>
        <p:spPr>
          <a:xfrm>
            <a:off x="830574" y="4279348"/>
            <a:ext cx="1319954" cy="24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Overall model test</a:t>
            </a:r>
            <a:endParaRPr lang="en-US" sz="1000" b="1" dirty="0">
              <a:solidFill>
                <a:srgbClr val="FFFF00"/>
              </a:solidFill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F00AD311-4CA9-6522-FE9F-5655419C2D09}"/>
              </a:ext>
            </a:extLst>
          </p:cNvPr>
          <p:cNvSpPr/>
          <p:nvPr/>
        </p:nvSpPr>
        <p:spPr>
          <a:xfrm>
            <a:off x="3965996" y="1960499"/>
            <a:ext cx="1496486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</a:rPr>
              <a:t>Significance F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9F6A6C70-1FB4-2643-AA6D-6BA3EAF3F05F}"/>
              </a:ext>
            </a:extLst>
          </p:cNvPr>
          <p:cNvSpPr/>
          <p:nvPr/>
        </p:nvSpPr>
        <p:spPr>
          <a:xfrm>
            <a:off x="4142528" y="2199504"/>
            <a:ext cx="1319954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5.47 × 10⁻⁷²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9B9511FB-4FB5-9BBE-BEC5-B117B7480409}"/>
              </a:ext>
            </a:extLst>
          </p:cNvPr>
          <p:cNvSpPr/>
          <p:nvPr/>
        </p:nvSpPr>
        <p:spPr>
          <a:xfrm>
            <a:off x="4089823" y="2511520"/>
            <a:ext cx="1319954" cy="24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p-value below 0.05</a:t>
            </a:r>
            <a:endParaRPr lang="en-US" sz="1000" b="1" dirty="0">
              <a:solidFill>
                <a:srgbClr val="FFFF00"/>
              </a:solidFill>
            </a:endParaRP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E9B9EECD-16A0-9CDD-59D8-6E305815B789}"/>
              </a:ext>
            </a:extLst>
          </p:cNvPr>
          <p:cNvSpPr/>
          <p:nvPr/>
        </p:nvSpPr>
        <p:spPr>
          <a:xfrm>
            <a:off x="3769359" y="3610065"/>
            <a:ext cx="1960883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/>
              <a:t>Regression slope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D236A832-28B6-A1F3-6959-EFDDB96BBF93}"/>
              </a:ext>
            </a:extLst>
          </p:cNvPr>
          <p:cNvSpPr/>
          <p:nvPr/>
        </p:nvSpPr>
        <p:spPr>
          <a:xfrm>
            <a:off x="4008965" y="3956465"/>
            <a:ext cx="1319954" cy="377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166.85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5BA1F99F-21B7-C08D-ED31-FDD0B068FCE6}"/>
              </a:ext>
            </a:extLst>
          </p:cNvPr>
          <p:cNvSpPr/>
          <p:nvPr/>
        </p:nvSpPr>
        <p:spPr>
          <a:xfrm>
            <a:off x="3950973" y="4250538"/>
            <a:ext cx="1319954" cy="24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Per 1°C increase</a:t>
            </a:r>
            <a:endParaRPr lang="en-US" sz="1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604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3860" y="12573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94335" y="124396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074420" y="13030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2898" y="3392234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2898" y="3411123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988695" y="3479703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Slicers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164D314-0A84-B2E1-0C2D-8E0EEEBD6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1" r="4961"/>
          <a:stretch/>
        </p:blipFill>
        <p:spPr>
          <a:xfrm>
            <a:off x="988695" y="1972913"/>
            <a:ext cx="9871063" cy="10833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7FA30B-0BD4-DFD9-2AF2-B1CDF9F6DDC9}"/>
              </a:ext>
            </a:extLst>
          </p:cNvPr>
          <p:cNvGrpSpPr/>
          <p:nvPr/>
        </p:nvGrpSpPr>
        <p:grpSpPr>
          <a:xfrm>
            <a:off x="1074420" y="3936903"/>
            <a:ext cx="9699972" cy="2616697"/>
            <a:chOff x="917258" y="4138612"/>
            <a:chExt cx="5429250" cy="2616697"/>
          </a:xfrm>
        </p:grpSpPr>
        <p:pic>
          <p:nvPicPr>
            <p:cNvPr id="28" name="Graphic 26">
              <a:extLst>
                <a:ext uri="{FF2B5EF4-FFF2-40B4-BE49-F238E27FC236}">
                  <a16:creationId xmlns:a16="http://schemas.microsoft.com/office/drawing/2014/main" id="{70DED98B-FE37-72DE-D84E-EB7B1E7D7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7258" y="4171438"/>
              <a:ext cx="1285875" cy="2583871"/>
            </a:xfrm>
            <a:custGeom>
              <a:avLst/>
              <a:gdLst>
                <a:gd name="csX0" fmla="*/ 0 w 1285875"/>
                <a:gd name="csY0" fmla="*/ 0 h 2583871"/>
                <a:gd name="csX1" fmla="*/ 1285875 w 1285875"/>
                <a:gd name="csY1" fmla="*/ 0 h 2583871"/>
                <a:gd name="csX2" fmla="*/ 1285875 w 1285875"/>
                <a:gd name="csY2" fmla="*/ 2583871 h 2583871"/>
                <a:gd name="csX3" fmla="*/ 0 w 1285875"/>
                <a:gd name="csY3" fmla="*/ 2583871 h 25838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85875" h="2583871">
                  <a:moveTo>
                    <a:pt x="0" y="0"/>
                  </a:moveTo>
                  <a:lnTo>
                    <a:pt x="1285875" y="0"/>
                  </a:lnTo>
                  <a:lnTo>
                    <a:pt x="1285875" y="2583871"/>
                  </a:lnTo>
                  <a:lnTo>
                    <a:pt x="0" y="2583871"/>
                  </a:lnTo>
                  <a:close/>
                </a:path>
              </a:pathLst>
            </a:custGeom>
            <a:solidFill>
              <a:schemeClr val="tx2"/>
            </a:solidFill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AB8AA8A-72D2-56CA-153A-6A05A849DB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03133" y="4159567"/>
              <a:ext cx="1304925" cy="1190625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7959DC34-E282-5969-C26F-CCFCB36CED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03133" y="5350192"/>
              <a:ext cx="1304925" cy="1398080"/>
            </a:xfrm>
            <a:prstGeom prst="rect">
              <a:avLst/>
            </a:prstGeom>
          </p:spPr>
        </p:pic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053D7BEC-A362-33B2-FA83-CC1C5D8AE9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508058" y="4148137"/>
              <a:ext cx="1438275" cy="143827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63E84000-F482-9877-DDF9-6F45C5BBC6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70133" y="4138612"/>
              <a:ext cx="1476375" cy="2616697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E13554D-8D8D-CE19-1844-0A8008879B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08058" y="5583896"/>
              <a:ext cx="1362075" cy="1164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0136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7099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subscribers drive 91.6% of all rides — the business runs on commuters, not one-off users.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accounts for 64% of ridership; heavy rain/snow almost eliminates demand.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2783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1363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average 63.3 rides/hour vs ~48 on weekends — a clear commute-driven pattern.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84962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daily peaks — 8 AM and 5–6 PM — mirror standard office commute times.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5429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56285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temperatures lift average hourly ridership by roughly 68% versus cold conditions.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67528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5367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2760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rider segments (Casual, Registered, Total) trend upward across the 45-day window.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39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1399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peak-hour capacity</a:t>
            </a: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Ensure bike availability at 8 AM and 5–6 PM when commuter demand is highest.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2542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casual-to-registered conversion</a:t>
            </a: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are a small share of volume — target them with subscription offers.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1600" y="3685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around weather</a:t>
            </a: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forecast data to pre-position bikes ahead of clear-weather days and reduce ops on heavy-rain days.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1600" y="4828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Re-check trend with full-year data</a:t>
            </a: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0" y="5257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45-day sample shows upward growth — validate against a complete annual dataset before committing budget.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2F266-B97D-E0C2-62C5-81B28B38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AD694AE-2855-387C-FC59-ABD50A9BB3AA}"/>
              </a:ext>
            </a:extLst>
          </p:cNvPr>
          <p:cNvSpPr txBox="1"/>
          <p:nvPr/>
        </p:nvSpPr>
        <p:spPr>
          <a:xfrm>
            <a:off x="2156604" y="2251494"/>
            <a:ext cx="8669547" cy="221599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13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lang="en-IN" sz="13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4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227</TotalTime>
  <Words>1076</Words>
  <Application>Microsoft Office PowerPoint</Application>
  <PresentationFormat>Widescreen</PresentationFormat>
  <Paragraphs>194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shahnshah</cp:lastModifiedBy>
  <cp:revision>142</cp:revision>
  <dcterms:created xsi:type="dcterms:W3CDTF">2026-09-27T07:23:05Z</dcterms:created>
  <dcterms:modified xsi:type="dcterms:W3CDTF">2026-10-09T15:54:18Z</dcterms:modified>
</cp:coreProperties>
</file>